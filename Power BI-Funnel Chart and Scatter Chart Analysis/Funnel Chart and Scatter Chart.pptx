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9" r:id="rId2"/>
    <p:sldId id="298" r:id="rId3"/>
    <p:sldId id="297" r:id="rId4"/>
    <p:sldId id="295" r:id="rId5"/>
    <p:sldId id="296" r:id="rId6"/>
    <p:sldId id="303" r:id="rId7"/>
    <p:sldId id="302" r:id="rId8"/>
    <p:sldId id="310" r:id="rId9"/>
    <p:sldId id="301" r:id="rId10"/>
    <p:sldId id="300" r:id="rId11"/>
    <p:sldId id="3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5229"/>
    <a:srgbClr val="1E3B5E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82CDF6-9B28-40E6-A0D3-3B7A05B9B5E5}" v="3" dt="2026-06-08T19:25:54.5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ana C" userId="ac2fc4ad54178826" providerId="LiveId" clId="{2AE1A1C9-FEEC-4EBB-BDC6-EBEBDDEE3E38}"/>
    <pc:docChg chg="undo custSel modSld">
      <pc:chgData name="Chandana C" userId="ac2fc4ad54178826" providerId="LiveId" clId="{2AE1A1C9-FEEC-4EBB-BDC6-EBEBDDEE3E38}" dt="2026-06-08T19:28:09.306" v="33" actId="1076"/>
      <pc:docMkLst>
        <pc:docMk/>
      </pc:docMkLst>
      <pc:sldChg chg="addSp modSp mod">
        <pc:chgData name="Chandana C" userId="ac2fc4ad54178826" providerId="LiveId" clId="{2AE1A1C9-FEEC-4EBB-BDC6-EBEBDDEE3E38}" dt="2026-06-08T19:28:09.306" v="33" actId="1076"/>
        <pc:sldMkLst>
          <pc:docMk/>
          <pc:sldMk cId="1886772911" sldId="269"/>
        </pc:sldMkLst>
        <pc:spChg chg="add mod">
          <ac:chgData name="Chandana C" userId="ac2fc4ad54178826" providerId="LiveId" clId="{2AE1A1C9-FEEC-4EBB-BDC6-EBEBDDEE3E38}" dt="2026-06-08T19:28:09.306" v="33" actId="1076"/>
          <ac:spMkLst>
            <pc:docMk/>
            <pc:sldMk cId="1886772911" sldId="269"/>
            <ac:spMk id="12" creationId="{983BF5EA-22A0-D70A-734C-000CB8823A37}"/>
          </ac:spMkLst>
        </pc:spChg>
        <pc:picChg chg="add mod">
          <ac:chgData name="Chandana C" userId="ac2fc4ad54178826" providerId="LiveId" clId="{2AE1A1C9-FEEC-4EBB-BDC6-EBEBDDEE3E38}" dt="2026-06-08T19:27:58.849" v="31" actId="1076"/>
          <ac:picMkLst>
            <pc:docMk/>
            <pc:sldMk cId="1886772911" sldId="269"/>
            <ac:picMk id="8" creationId="{4060E215-9430-CFAE-8B2F-849E3DD2EB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5B07D-1B29-46CD-857A-AF58E21AB87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23536-9AFF-49AF-A26A-F691BF937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92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B7DA-887A-827D-7650-43E00CF7A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43A09-B718-C0A4-9162-28AC1A7E4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C7FD3-033D-31C5-CD92-D813EDC5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8093-A3EE-45F3-8091-6D16BC57FA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94522-76B9-7C70-3019-854C0635A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755CB-5EDF-E68C-A0E0-E2164A9D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4E47-D6F9-4872-8485-876165FEA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3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DC27-20C2-0019-A10C-662091223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AC68C-7A36-A830-6597-A698A34BE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116D6-4F08-1E32-41ED-64F0DB9CD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8093-A3EE-45F3-8091-6D16BC57FA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53976-36D6-ACB0-EDC1-516B8735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9AAFD-058C-F913-A60E-D1B15124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4E47-D6F9-4872-8485-876165FEA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22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0E32-1C96-BA7D-1230-9B2C230C5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B034A-AB12-AC0F-4DFE-BB19AD619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3692D-D12A-2F4E-DE30-31B16B76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8093-A3EE-45F3-8091-6D16BC57FA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EB3B0-71ED-0C54-A6A6-B1B0E621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58F4E-50F1-4740-7AEF-EE22E18C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4E47-D6F9-4872-8485-876165FEA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59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A3C4B-57E2-1909-4E34-0C212AE5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ABCB1-E794-5691-F0E6-5141CA655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E6ABC-9163-C9AB-8062-F064515F8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C514F-30C7-B7D8-77A9-F1ECFD58F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8093-A3EE-45F3-8091-6D16BC57FA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56B5E-89DB-4C0C-F1AE-997E1AE8F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FD8DB-0C50-CFC6-0E5B-662E33B3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4E47-D6F9-4872-8485-876165FEA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8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AB1C4-E9D1-17DF-3FBA-7800AD55C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FD453-6147-ADCF-78F2-73BADA374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15285-101D-44A7-E914-4CF4A2A0C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94D59-A9D6-9CF3-C032-D5A14BCF9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8CC3A-CC43-9699-4230-3F539AA60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E7F746-A9AD-F497-4289-518399CF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8093-A3EE-45F3-8091-6D16BC57FA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D77B-B5DD-15C3-F707-250D8ABD3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DBBBF3-007F-A3E7-B336-A7AFDE5CC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4E47-D6F9-4872-8485-876165FEA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7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4BD2-ABB1-F281-E5A6-8F2E39579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52501-1F02-B180-8832-1BD4B2342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8093-A3EE-45F3-8091-6D16BC57FA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B9485-0538-78D0-9EEC-E341E7789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C6091-35FA-95D1-0C58-95642EA0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4E47-D6F9-4872-8485-876165FEA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34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97AD35-5B4A-A0D4-8AE0-5C57349E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8093-A3EE-45F3-8091-6D16BC57FA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C84550-A08E-E3C0-176F-4E34C5DB1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E9344-2569-AB59-FA93-B826BC11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4E47-D6F9-4872-8485-876165FEA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9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7921B-AF33-BF37-6940-B5E200CDF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EFD43-EF0A-1C3C-FD52-E91B10CEA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8F2CF-5F9C-67A9-58FB-C6603BCD7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9DCEA-6C8C-218F-CD79-5FDA16F9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8093-A3EE-45F3-8091-6D16BC57FA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29FEB-C1F2-0F07-732A-5032D186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DD6CD-2630-2744-D637-DF2AFF3F5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4E47-D6F9-4872-8485-876165FEA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82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A2B9-F17C-FE9F-CEE7-D1DD256C3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807E65-D801-2249-3424-96AD6FA29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9A1EB-101D-6BFA-340B-3D17844D6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34219-3EF7-F7E3-88C0-DAF2EF12E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8093-A3EE-45F3-8091-6D16BC57FA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D2198-7B77-66B8-F937-4A9C31B29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61A09-E6BD-2603-7B19-18CD591BE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4E47-D6F9-4872-8485-876165FEA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9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6D5C-5A30-3CC2-2652-DABC82B7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A7B40-EE28-E586-5EFF-F54C67F09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D15CB-E462-67FF-71E8-BED5D4D6A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8093-A3EE-45F3-8091-6D16BC57FA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428DB-8725-501F-CA5C-B547FEC2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71825-2676-A2F9-D7B4-BE97604B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4E47-D6F9-4872-8485-876165FEA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6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1771E-8D2D-2903-DB4D-45CFD9773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64062-576E-7E78-4DF8-F2B25D2E4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9B9D6-8615-C5B8-7241-23A12FD92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8093-A3EE-45F3-8091-6D16BC57FA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9C24F-95DB-D3B5-45F7-24614B84C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7CF8B-039A-F7E8-8C66-CCE0DCE9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4E47-D6F9-4872-8485-876165FEA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89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55AE35-7C24-2355-E3A5-38ADEE81C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C8682-AD85-A57B-FCBB-2F4B5622D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CAB04-25C0-436A-41B0-66402246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C8093-A3EE-45F3-8091-6D16BC57FA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C08EA-7E50-96E6-D30A-CF0E1AD5E2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E2571-2F2E-8B2F-B8EE-EBC497436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A4E47-D6F9-4872-8485-876165FEA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C2026-5D14-7F2B-8BBD-1C0F84174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CDD385-E6F5-C574-5B32-E7CAAF11FA9F}"/>
              </a:ext>
            </a:extLst>
          </p:cNvPr>
          <p:cNvSpPr/>
          <p:nvPr/>
        </p:nvSpPr>
        <p:spPr>
          <a:xfrm>
            <a:off x="0" y="0"/>
            <a:ext cx="12192000" cy="1172018"/>
          </a:xfrm>
          <a:prstGeom prst="rect">
            <a:avLst/>
          </a:prstGeom>
          <a:solidFill>
            <a:schemeClr val="bg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179C3EFE-E29C-67B1-EE90-72E74F957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121" y="49715"/>
            <a:ext cx="1143879" cy="1091029"/>
          </a:xfrm>
          <a:prstGeom prst="rect">
            <a:avLst/>
          </a:prstGeom>
        </p:spPr>
      </p:pic>
      <p:pic>
        <p:nvPicPr>
          <p:cNvPr id="1026" name="Picture 2" descr="VTU-Logo-250×250 – SJB INSTITUTE OF TECHNOLOGY">
            <a:extLst>
              <a:ext uri="{FF2B5EF4-FFF2-40B4-BE49-F238E27FC236}">
                <a16:creationId xmlns:a16="http://schemas.microsoft.com/office/drawing/2014/main" id="{E8C941DF-5DE2-9928-B5C4-1401AD684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" y="40493"/>
            <a:ext cx="1107336" cy="109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BEC89C-F298-1D15-6D13-5335215C9C4C}"/>
              </a:ext>
            </a:extLst>
          </p:cNvPr>
          <p:cNvSpPr txBox="1"/>
          <p:nvPr/>
        </p:nvSpPr>
        <p:spPr>
          <a:xfrm>
            <a:off x="2789274" y="0"/>
            <a:ext cx="661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3B5E"/>
                </a:solidFill>
                <a:effectLst/>
                <a:uLnTx/>
                <a:uFillTx/>
                <a:latin typeface="Sanskrit Text" panose="020B0502040204020203" pitchFamily="18" charset="0"/>
                <a:ea typeface="+mn-ea"/>
                <a:cs typeface="Sanskrit Text" panose="020B0502040204020203" pitchFamily="18" charset="0"/>
              </a:rPr>
              <a:t>Internship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AC49FD-4D75-D455-C032-0D27DAEB8846}"/>
              </a:ext>
            </a:extLst>
          </p:cNvPr>
          <p:cNvSpPr txBox="1"/>
          <p:nvPr/>
        </p:nvSpPr>
        <p:spPr>
          <a:xfrm>
            <a:off x="1552354" y="395175"/>
            <a:ext cx="9271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5229"/>
                </a:solidFill>
                <a:effectLst/>
                <a:uLnTx/>
                <a:uFillTx/>
                <a:latin typeface="Raavi" panose="020B0502040204020203" pitchFamily="34" charset="0"/>
                <a:ea typeface="+mn-ea"/>
                <a:cs typeface="Raavi" panose="020B0502040204020203" pitchFamily="34" charset="0"/>
              </a:rPr>
              <a:t>Data Analytics using Power BI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79043C-047E-BBD4-5616-BCB3A7CF24F8}"/>
              </a:ext>
            </a:extLst>
          </p:cNvPr>
          <p:cNvCxnSpPr>
            <a:cxnSpLocks/>
          </p:cNvCxnSpPr>
          <p:nvPr/>
        </p:nvCxnSpPr>
        <p:spPr>
          <a:xfrm>
            <a:off x="1606738" y="795285"/>
            <a:ext cx="8793125" cy="0"/>
          </a:xfrm>
          <a:prstGeom prst="line">
            <a:avLst/>
          </a:prstGeom>
          <a:ln w="57150">
            <a:solidFill>
              <a:srgbClr val="FF9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18C3823-BADA-8448-EA8F-05330C2CBB0D}"/>
              </a:ext>
            </a:extLst>
          </p:cNvPr>
          <p:cNvSpPr txBox="1"/>
          <p:nvPr/>
        </p:nvSpPr>
        <p:spPr>
          <a:xfrm>
            <a:off x="1457883" y="833464"/>
            <a:ext cx="9090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3B5E"/>
                </a:solidFill>
                <a:effectLst/>
                <a:uLnTx/>
                <a:uFillTx/>
                <a:latin typeface="Sanskrit Text" panose="02020503050405020304" pitchFamily="18" charset="0"/>
                <a:ea typeface="+mn-ea"/>
                <a:cs typeface="Sanskrit Text" panose="02020503050405020304" pitchFamily="18" charset="0"/>
              </a:rPr>
              <a:t>An Approved Internship Program under the VTU - iRobo Automation MoU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722520E-ABA4-C7A7-03D5-38D731C6A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5956006" cy="26773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Mr.BHARATH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 S, Director, iRobo Automation Pvt Ltd, +91-9686107156</a:t>
            </a:r>
          </a:p>
        </p:txBody>
      </p:sp>
      <p:pic>
        <p:nvPicPr>
          <p:cNvPr id="3" name="Picture 2" descr="A person in a suit and tie&#10;&#10;Description automatically generated">
            <a:extLst>
              <a:ext uri="{FF2B5EF4-FFF2-40B4-BE49-F238E27FC236}">
                <a16:creationId xmlns:a16="http://schemas.microsoft.com/office/drawing/2014/main" id="{A5D3B206-0451-4155-FF2C-59409FAE8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60E215-9430-CFAE-8B2F-849E3DD2EB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9" y="3659524"/>
            <a:ext cx="1685367" cy="21522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3BF5EA-22A0-D70A-734C-000CB8823A37}"/>
              </a:ext>
            </a:extLst>
          </p:cNvPr>
          <p:cNvSpPr txBox="1"/>
          <p:nvPr/>
        </p:nvSpPr>
        <p:spPr>
          <a:xfrm>
            <a:off x="-79114" y="5972848"/>
            <a:ext cx="3840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highlight>
                  <a:srgbClr val="7A5229"/>
                </a:highlight>
              </a:rPr>
              <a:t>Ms. Chandana C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highlight>
                  <a:srgbClr val="7A5229"/>
                </a:highlight>
              </a:rPr>
              <a:t>Intern , iRobo Automation Pvt Ltd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77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44365"/>
    </mc:Choice>
    <mc:Fallback xmlns="">
      <p:transition spd="slow" advTm="644436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8D7EA-F3AB-9713-96A8-2548D625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1AF73C-29DD-54F6-0623-678E740DDD41}"/>
              </a:ext>
            </a:extLst>
          </p:cNvPr>
          <p:cNvSpPr/>
          <p:nvPr/>
        </p:nvSpPr>
        <p:spPr>
          <a:xfrm>
            <a:off x="0" y="0"/>
            <a:ext cx="12192000" cy="1172018"/>
          </a:xfrm>
          <a:prstGeom prst="rect">
            <a:avLst/>
          </a:prstGeom>
          <a:solidFill>
            <a:schemeClr val="bg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0C96B4DB-CF2A-2F7C-FF93-B290C26D9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121" y="49715"/>
            <a:ext cx="1143879" cy="1091029"/>
          </a:xfrm>
          <a:prstGeom prst="rect">
            <a:avLst/>
          </a:prstGeom>
        </p:spPr>
      </p:pic>
      <p:pic>
        <p:nvPicPr>
          <p:cNvPr id="1026" name="Picture 2" descr="VTU-Logo-250×250 – SJB INSTITUTE OF TECHNOLOGY">
            <a:extLst>
              <a:ext uri="{FF2B5EF4-FFF2-40B4-BE49-F238E27FC236}">
                <a16:creationId xmlns:a16="http://schemas.microsoft.com/office/drawing/2014/main" id="{F122CEF9-DCA6-D1E2-84D1-CBF61818C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" y="40493"/>
            <a:ext cx="1107336" cy="109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B3C818-0E85-BCEA-96BD-4C43679FB42E}"/>
              </a:ext>
            </a:extLst>
          </p:cNvPr>
          <p:cNvSpPr txBox="1"/>
          <p:nvPr/>
        </p:nvSpPr>
        <p:spPr>
          <a:xfrm>
            <a:off x="2789274" y="0"/>
            <a:ext cx="661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3B5E"/>
                </a:solidFill>
                <a:effectLst/>
                <a:uLnTx/>
                <a:uFillTx/>
                <a:latin typeface="Sanskrit Text" panose="020B0502040204020203" pitchFamily="18" charset="0"/>
                <a:ea typeface="+mn-ea"/>
                <a:cs typeface="Sanskrit Text" panose="020B0502040204020203" pitchFamily="18" charset="0"/>
              </a:rPr>
              <a:t>Internship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804DB-0B5D-D95D-3609-58B67E74FED3}"/>
              </a:ext>
            </a:extLst>
          </p:cNvPr>
          <p:cNvSpPr txBox="1"/>
          <p:nvPr/>
        </p:nvSpPr>
        <p:spPr>
          <a:xfrm>
            <a:off x="1552354" y="395175"/>
            <a:ext cx="9271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5229"/>
                </a:solidFill>
                <a:effectLst/>
                <a:uLnTx/>
                <a:uFillTx/>
                <a:latin typeface="Raavi" panose="020B0502040204020203" pitchFamily="34" charset="0"/>
                <a:ea typeface="+mn-ea"/>
                <a:cs typeface="Raavi" panose="020B0502040204020203" pitchFamily="34" charset="0"/>
              </a:rPr>
              <a:t>Data Analytics using Power BI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E59E8A-8970-80AC-986F-7FE755846364}"/>
              </a:ext>
            </a:extLst>
          </p:cNvPr>
          <p:cNvCxnSpPr>
            <a:cxnSpLocks/>
          </p:cNvCxnSpPr>
          <p:nvPr/>
        </p:nvCxnSpPr>
        <p:spPr>
          <a:xfrm>
            <a:off x="1606738" y="795285"/>
            <a:ext cx="8793125" cy="0"/>
          </a:xfrm>
          <a:prstGeom prst="line">
            <a:avLst/>
          </a:prstGeom>
          <a:ln w="57150">
            <a:solidFill>
              <a:srgbClr val="FF9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FDA45D3-C962-DDBA-7A78-98703C4CA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5956006" cy="26773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t>. Chandana C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Intern , iRobo Automation Pvt Ltd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280A2-D59A-A578-BCBB-16A56A12E338}"/>
              </a:ext>
            </a:extLst>
          </p:cNvPr>
          <p:cNvSpPr>
            <a:spLocks noGrp="1"/>
          </p:cNvSpPr>
          <p:nvPr/>
        </p:nvSpPr>
        <p:spPr>
          <a:xfrm>
            <a:off x="381739" y="985421"/>
            <a:ext cx="10666382" cy="1506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117CB68-069A-56BF-E20A-4F1FA3FD1405}"/>
              </a:ext>
            </a:extLst>
          </p:cNvPr>
          <p:cNvSpPr>
            <a:spLocks noGrp="1"/>
          </p:cNvSpPr>
          <p:nvPr/>
        </p:nvSpPr>
        <p:spPr>
          <a:xfrm>
            <a:off x="301841" y="2076450"/>
            <a:ext cx="8353888" cy="4781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2914C9-6B99-0F97-37BC-6C335E8A77DA}"/>
              </a:ext>
            </a:extLst>
          </p:cNvPr>
          <p:cNvSpPr txBox="1"/>
          <p:nvPr/>
        </p:nvSpPr>
        <p:spPr>
          <a:xfrm>
            <a:off x="1660779" y="850242"/>
            <a:ext cx="8685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E3B5E"/>
                </a:solidFill>
                <a:latin typeface="Sanskrit Text" panose="02020503050405020304" pitchFamily="18" charset="0"/>
                <a:cs typeface="Sanskrit Text" panose="02020503050405020304" pitchFamily="18" charset="0"/>
              </a:rPr>
              <a:t>Detailed Study of Power BI Visual : Funnel Chart and Scatter Chart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E3B5E"/>
              </a:solidFill>
              <a:effectLst/>
              <a:uLnTx/>
              <a:uFillTx/>
              <a:latin typeface="Sanskrit Text" panose="02020503050405020304" pitchFamily="18" charset="0"/>
              <a:ea typeface="+mn-ea"/>
              <a:cs typeface="Sanskrit Text" panose="02020503050405020304" pitchFamily="18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A4E82E8-063A-F805-11A0-80D4224FA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39" y="1525659"/>
            <a:ext cx="12607440" cy="3076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b="1" dirty="0"/>
              <a:t>Data Visuals in Power BI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representation of data using charts, graphs, and dashboards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raw data into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meaningful insights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data easy to understand for all users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identify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trends, patterns, and relationships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and effective decision-making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5415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CC19A-F4BF-349C-BA44-14E9E727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E2310D-C615-A171-0AE5-C6CCCDCCEF72}"/>
              </a:ext>
            </a:extLst>
          </p:cNvPr>
          <p:cNvSpPr/>
          <p:nvPr/>
        </p:nvSpPr>
        <p:spPr>
          <a:xfrm>
            <a:off x="0" y="0"/>
            <a:ext cx="12192000" cy="1172018"/>
          </a:xfrm>
          <a:prstGeom prst="rect">
            <a:avLst/>
          </a:prstGeom>
          <a:solidFill>
            <a:schemeClr val="bg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B25F6B39-99E0-915C-FFCB-EF57C3A40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121" y="49715"/>
            <a:ext cx="1143879" cy="1091029"/>
          </a:xfrm>
          <a:prstGeom prst="rect">
            <a:avLst/>
          </a:prstGeom>
        </p:spPr>
      </p:pic>
      <p:pic>
        <p:nvPicPr>
          <p:cNvPr id="1026" name="Picture 2" descr="VTU-Logo-250×250 – SJB INSTITUTE OF TECHNOLOGY">
            <a:extLst>
              <a:ext uri="{FF2B5EF4-FFF2-40B4-BE49-F238E27FC236}">
                <a16:creationId xmlns:a16="http://schemas.microsoft.com/office/drawing/2014/main" id="{2C727089-8F64-1A90-4C73-47415581C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" y="40493"/>
            <a:ext cx="1107336" cy="109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8E0E91-2CAB-BADC-3972-7565D87150AF}"/>
              </a:ext>
            </a:extLst>
          </p:cNvPr>
          <p:cNvSpPr txBox="1"/>
          <p:nvPr/>
        </p:nvSpPr>
        <p:spPr>
          <a:xfrm>
            <a:off x="2789274" y="0"/>
            <a:ext cx="661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3B5E"/>
                </a:solidFill>
                <a:effectLst/>
                <a:uLnTx/>
                <a:uFillTx/>
                <a:latin typeface="Sanskrit Text" panose="020B0502040204020203" pitchFamily="18" charset="0"/>
                <a:ea typeface="+mn-ea"/>
                <a:cs typeface="Sanskrit Text" panose="020B0502040204020203" pitchFamily="18" charset="0"/>
              </a:rPr>
              <a:t>Internship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5BCD22-56BC-8462-84E6-3262BA97B27B}"/>
              </a:ext>
            </a:extLst>
          </p:cNvPr>
          <p:cNvSpPr txBox="1"/>
          <p:nvPr/>
        </p:nvSpPr>
        <p:spPr>
          <a:xfrm>
            <a:off x="1552354" y="395175"/>
            <a:ext cx="9271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5229"/>
                </a:solidFill>
                <a:effectLst/>
                <a:uLnTx/>
                <a:uFillTx/>
                <a:latin typeface="Raavi" panose="020B0502040204020203" pitchFamily="34" charset="0"/>
                <a:ea typeface="+mn-ea"/>
                <a:cs typeface="Raavi" panose="020B0502040204020203" pitchFamily="34" charset="0"/>
              </a:rPr>
              <a:t>Data Analytics using Power BI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1F359-1CD9-9482-CC79-1AC82142D041}"/>
              </a:ext>
            </a:extLst>
          </p:cNvPr>
          <p:cNvCxnSpPr>
            <a:cxnSpLocks/>
          </p:cNvCxnSpPr>
          <p:nvPr/>
        </p:nvCxnSpPr>
        <p:spPr>
          <a:xfrm>
            <a:off x="1606738" y="795285"/>
            <a:ext cx="8793125" cy="0"/>
          </a:xfrm>
          <a:prstGeom prst="line">
            <a:avLst/>
          </a:prstGeom>
          <a:ln w="57150">
            <a:solidFill>
              <a:srgbClr val="FF9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2AC58D2-B6DD-7472-A5E8-6EBFE6D6C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5956006" cy="26773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t>. Chandana C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Intern , iRobo Automation Pvt Ltd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B6E3C-B9DB-3ADC-D7D4-429F9549BB11}"/>
              </a:ext>
            </a:extLst>
          </p:cNvPr>
          <p:cNvSpPr>
            <a:spLocks noGrp="1"/>
          </p:cNvSpPr>
          <p:nvPr/>
        </p:nvSpPr>
        <p:spPr>
          <a:xfrm>
            <a:off x="381739" y="985421"/>
            <a:ext cx="10666382" cy="1506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C3C51DD-DD22-5790-AF43-C394BDFA9954}"/>
              </a:ext>
            </a:extLst>
          </p:cNvPr>
          <p:cNvSpPr>
            <a:spLocks noGrp="1"/>
          </p:cNvSpPr>
          <p:nvPr/>
        </p:nvSpPr>
        <p:spPr>
          <a:xfrm>
            <a:off x="301841" y="2076450"/>
            <a:ext cx="8353888" cy="4781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4BFFF7-9B4D-6805-954B-63AD662BDB3D}"/>
              </a:ext>
            </a:extLst>
          </p:cNvPr>
          <p:cNvSpPr txBox="1"/>
          <p:nvPr/>
        </p:nvSpPr>
        <p:spPr>
          <a:xfrm>
            <a:off x="2263076" y="826063"/>
            <a:ext cx="7641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1E3B5E"/>
                </a:solidFill>
                <a:latin typeface="Sanskrit Text" panose="02020503050405020304" pitchFamily="18" charset="0"/>
                <a:cs typeface="Sanskrit Text" panose="02020503050405020304" pitchFamily="18" charset="0"/>
              </a:rPr>
              <a:t>Detailed Study of Power BI Visual : Funnel Chart and Scatter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4C0BF3-5120-1F54-E0D5-12782DFCC327}"/>
              </a:ext>
            </a:extLst>
          </p:cNvPr>
          <p:cNvSpPr txBox="1"/>
          <p:nvPr/>
        </p:nvSpPr>
        <p:spPr>
          <a:xfrm>
            <a:off x="328290" y="1140744"/>
            <a:ext cx="1021831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FUNNEL CHART</a:t>
            </a:r>
          </a:p>
          <a:p>
            <a:r>
              <a:rPr lang="en-US" sz="2200" b="1" dirty="0"/>
              <a:t>What is funnel chart?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Funnel Chart is a visualization used to track the data/Performance through different stages.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top stage represents the highest value, and each next stage shows a reduction.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r>
              <a:rPr lang="en-US" sz="2200" b="1" dirty="0"/>
              <a:t>Why Do We Use Funnel Charts?</a:t>
            </a:r>
          </a:p>
          <a:p>
            <a:endParaRPr lang="en-US" sz="2000" dirty="0"/>
          </a:p>
          <a:p>
            <a:pPr algn="ctr"/>
            <a:endParaRPr lang="en-IN" sz="20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1A3B628-1A0B-57A4-C50C-A52355CE2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89" y="3972463"/>
            <a:ext cx="9110636" cy="249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to analyze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step-by-step processes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where data flows in sequence.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Help identify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where drop-offs occur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process.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Shows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weakest stage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needs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Measures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process efficiency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from start to end. </a:t>
            </a:r>
          </a:p>
        </p:txBody>
      </p:sp>
    </p:spTree>
    <p:extLst>
      <p:ext uri="{BB962C8B-B14F-4D97-AF65-F5344CB8AC3E}">
        <p14:creationId xmlns:p14="http://schemas.microsoft.com/office/powerpoint/2010/main" val="55818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21615-CC99-C32D-0205-DCC5E7C73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A4DD6F-401D-392B-9C40-FC38106F1EF6}"/>
              </a:ext>
            </a:extLst>
          </p:cNvPr>
          <p:cNvSpPr/>
          <p:nvPr/>
        </p:nvSpPr>
        <p:spPr>
          <a:xfrm>
            <a:off x="0" y="0"/>
            <a:ext cx="12192000" cy="1172018"/>
          </a:xfrm>
          <a:prstGeom prst="rect">
            <a:avLst/>
          </a:prstGeom>
          <a:solidFill>
            <a:schemeClr val="bg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EF4659E6-185B-0DBC-3191-A5F585FB1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121" y="49715"/>
            <a:ext cx="1143879" cy="1091029"/>
          </a:xfrm>
          <a:prstGeom prst="rect">
            <a:avLst/>
          </a:prstGeom>
        </p:spPr>
      </p:pic>
      <p:pic>
        <p:nvPicPr>
          <p:cNvPr id="1026" name="Picture 2" descr="VTU-Logo-250×250 – SJB INSTITUTE OF TECHNOLOGY">
            <a:extLst>
              <a:ext uri="{FF2B5EF4-FFF2-40B4-BE49-F238E27FC236}">
                <a16:creationId xmlns:a16="http://schemas.microsoft.com/office/drawing/2014/main" id="{A2A223DB-54AF-2CBE-0F48-CFC546E49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" y="40493"/>
            <a:ext cx="1107336" cy="109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F3AB1C-D9CA-057E-7A8B-D0849E5BF331}"/>
              </a:ext>
            </a:extLst>
          </p:cNvPr>
          <p:cNvSpPr txBox="1"/>
          <p:nvPr/>
        </p:nvSpPr>
        <p:spPr>
          <a:xfrm>
            <a:off x="2789274" y="0"/>
            <a:ext cx="661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3B5E"/>
                </a:solidFill>
                <a:effectLst/>
                <a:uLnTx/>
                <a:uFillTx/>
                <a:latin typeface="Sanskrit Text" panose="020B0502040204020203" pitchFamily="18" charset="0"/>
                <a:ea typeface="+mn-ea"/>
                <a:cs typeface="Sanskrit Text" panose="020B0502040204020203" pitchFamily="18" charset="0"/>
              </a:rPr>
              <a:t>Internship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D95064-5D81-3B44-6221-93A16A461B5E}"/>
              </a:ext>
            </a:extLst>
          </p:cNvPr>
          <p:cNvSpPr txBox="1"/>
          <p:nvPr/>
        </p:nvSpPr>
        <p:spPr>
          <a:xfrm>
            <a:off x="1552354" y="395175"/>
            <a:ext cx="9271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5229"/>
                </a:solidFill>
                <a:effectLst/>
                <a:uLnTx/>
                <a:uFillTx/>
                <a:latin typeface="Raavi" panose="020B0502040204020203" pitchFamily="34" charset="0"/>
                <a:ea typeface="+mn-ea"/>
                <a:cs typeface="Raavi" panose="020B0502040204020203" pitchFamily="34" charset="0"/>
              </a:rPr>
              <a:t>Data Analytics using Power BI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8026FC-1181-7580-5E9D-2AFE5F4DBE92}"/>
              </a:ext>
            </a:extLst>
          </p:cNvPr>
          <p:cNvCxnSpPr>
            <a:cxnSpLocks/>
          </p:cNvCxnSpPr>
          <p:nvPr/>
        </p:nvCxnSpPr>
        <p:spPr>
          <a:xfrm>
            <a:off x="1606738" y="795285"/>
            <a:ext cx="8793125" cy="0"/>
          </a:xfrm>
          <a:prstGeom prst="line">
            <a:avLst/>
          </a:prstGeom>
          <a:ln w="57150">
            <a:solidFill>
              <a:srgbClr val="FF9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8770D54-F4B9-3391-C83D-64742B9D4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5956006" cy="26773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t>. Chandana C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Intern , iRobo Automation Pvt Ltd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848C8-D477-4171-FD93-EC34F6383E43}"/>
              </a:ext>
            </a:extLst>
          </p:cNvPr>
          <p:cNvSpPr>
            <a:spLocks noGrp="1"/>
          </p:cNvSpPr>
          <p:nvPr/>
        </p:nvSpPr>
        <p:spPr>
          <a:xfrm>
            <a:off x="381739" y="1526697"/>
            <a:ext cx="10666382" cy="4595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DE31E58-9528-FD8E-8990-38F12E23317B}"/>
              </a:ext>
            </a:extLst>
          </p:cNvPr>
          <p:cNvSpPr>
            <a:spLocks noGrp="1"/>
          </p:cNvSpPr>
          <p:nvPr/>
        </p:nvSpPr>
        <p:spPr>
          <a:xfrm>
            <a:off x="301841" y="1422400"/>
            <a:ext cx="8353888" cy="5435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758345-78A3-4E7B-75AF-7C2DF1ACC16E}"/>
              </a:ext>
            </a:extLst>
          </p:cNvPr>
          <p:cNvSpPr txBox="1"/>
          <p:nvPr/>
        </p:nvSpPr>
        <p:spPr>
          <a:xfrm>
            <a:off x="2263076" y="826063"/>
            <a:ext cx="7641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1E3B5E"/>
                </a:solidFill>
                <a:latin typeface="Sanskrit Text" panose="02020503050405020304" pitchFamily="18" charset="0"/>
                <a:cs typeface="Sanskrit Text" panose="02020503050405020304" pitchFamily="18" charset="0"/>
              </a:rPr>
              <a:t>Detailed Study of Power BI Visual : Funnel Chart and Scatter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FD43C-F4DF-363B-508C-0AA5089468DA}"/>
              </a:ext>
            </a:extLst>
          </p:cNvPr>
          <p:cNvSpPr txBox="1"/>
          <p:nvPr/>
        </p:nvSpPr>
        <p:spPr>
          <a:xfrm>
            <a:off x="301841" y="1495423"/>
            <a:ext cx="107462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For example,</a:t>
            </a:r>
          </a:p>
          <a:p>
            <a:r>
              <a:rPr lang="en-IN" sz="2200" dirty="0"/>
              <a:t>In a credit card company a successful sell of credit card can be analysed using funnel chart as given here.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00AC54-150C-294D-B7B3-6F79FFE52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653" y="2428081"/>
            <a:ext cx="7094990" cy="369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38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7B717-08A5-DD1E-7486-E20581CD3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2C3F3A-9C2C-59A8-7609-1411F67F7ECE}"/>
              </a:ext>
            </a:extLst>
          </p:cNvPr>
          <p:cNvSpPr/>
          <p:nvPr/>
        </p:nvSpPr>
        <p:spPr>
          <a:xfrm>
            <a:off x="0" y="0"/>
            <a:ext cx="12192000" cy="1172018"/>
          </a:xfrm>
          <a:prstGeom prst="rect">
            <a:avLst/>
          </a:prstGeom>
          <a:solidFill>
            <a:schemeClr val="bg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EAEAC568-2A90-AED0-3126-06D7541A4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121" y="49715"/>
            <a:ext cx="1143879" cy="1091029"/>
          </a:xfrm>
          <a:prstGeom prst="rect">
            <a:avLst/>
          </a:prstGeom>
        </p:spPr>
      </p:pic>
      <p:pic>
        <p:nvPicPr>
          <p:cNvPr id="1026" name="Picture 2" descr="VTU-Logo-250×250 – SJB INSTITUTE OF TECHNOLOGY">
            <a:extLst>
              <a:ext uri="{FF2B5EF4-FFF2-40B4-BE49-F238E27FC236}">
                <a16:creationId xmlns:a16="http://schemas.microsoft.com/office/drawing/2014/main" id="{8C1D56CB-9DE3-BE24-1C56-BC5A0B0C5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" y="40493"/>
            <a:ext cx="1107336" cy="109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F25D33-DC8C-0A3A-84AB-3C00519498C8}"/>
              </a:ext>
            </a:extLst>
          </p:cNvPr>
          <p:cNvSpPr txBox="1"/>
          <p:nvPr/>
        </p:nvSpPr>
        <p:spPr>
          <a:xfrm>
            <a:off x="2789274" y="0"/>
            <a:ext cx="661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3B5E"/>
                </a:solidFill>
                <a:effectLst/>
                <a:uLnTx/>
                <a:uFillTx/>
                <a:latin typeface="Sanskrit Text" panose="020B0502040204020203" pitchFamily="18" charset="0"/>
                <a:ea typeface="+mn-ea"/>
                <a:cs typeface="Sanskrit Text" panose="020B0502040204020203" pitchFamily="18" charset="0"/>
              </a:rPr>
              <a:t>Internship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69CEE-72DA-02F4-4DA0-D925CA8B3D30}"/>
              </a:ext>
            </a:extLst>
          </p:cNvPr>
          <p:cNvSpPr txBox="1"/>
          <p:nvPr/>
        </p:nvSpPr>
        <p:spPr>
          <a:xfrm>
            <a:off x="1552354" y="395175"/>
            <a:ext cx="9271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5229"/>
                </a:solidFill>
                <a:effectLst/>
                <a:uLnTx/>
                <a:uFillTx/>
                <a:latin typeface="Raavi" panose="020B0502040204020203" pitchFamily="34" charset="0"/>
                <a:ea typeface="+mn-ea"/>
                <a:cs typeface="Raavi" panose="020B0502040204020203" pitchFamily="34" charset="0"/>
              </a:rPr>
              <a:t>Data Analytics using Power BI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580742-1AE7-51CE-C8E0-6F7562C8A6F8}"/>
              </a:ext>
            </a:extLst>
          </p:cNvPr>
          <p:cNvCxnSpPr>
            <a:cxnSpLocks/>
          </p:cNvCxnSpPr>
          <p:nvPr/>
        </p:nvCxnSpPr>
        <p:spPr>
          <a:xfrm>
            <a:off x="1606738" y="795285"/>
            <a:ext cx="8793125" cy="0"/>
          </a:xfrm>
          <a:prstGeom prst="line">
            <a:avLst/>
          </a:prstGeom>
          <a:ln w="57150">
            <a:solidFill>
              <a:srgbClr val="FF9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4E6CD33-4AE1-6881-721C-F557288B7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5956006" cy="26773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t>. Chandana C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Intern , iRobo Automation Pvt Ltd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DB894E-6126-C6D8-E9BB-5334B5BF5BAE}"/>
              </a:ext>
            </a:extLst>
          </p:cNvPr>
          <p:cNvSpPr>
            <a:spLocks noGrp="1"/>
          </p:cNvSpPr>
          <p:nvPr/>
        </p:nvSpPr>
        <p:spPr>
          <a:xfrm>
            <a:off x="381739" y="985421"/>
            <a:ext cx="10666382" cy="1506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DBB43E-23CA-02DD-D064-874136BB21D9}"/>
              </a:ext>
            </a:extLst>
          </p:cNvPr>
          <p:cNvSpPr>
            <a:spLocks noGrp="1"/>
          </p:cNvSpPr>
          <p:nvPr/>
        </p:nvSpPr>
        <p:spPr>
          <a:xfrm>
            <a:off x="301841" y="2076450"/>
            <a:ext cx="8353888" cy="4781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BB2B37-2009-FD5C-BB62-2523E34EBDD8}"/>
              </a:ext>
            </a:extLst>
          </p:cNvPr>
          <p:cNvSpPr txBox="1"/>
          <p:nvPr/>
        </p:nvSpPr>
        <p:spPr>
          <a:xfrm>
            <a:off x="2263076" y="826063"/>
            <a:ext cx="7641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1E3B5E"/>
                </a:solidFill>
                <a:latin typeface="Sanskrit Text" panose="02020503050405020304" pitchFamily="18" charset="0"/>
                <a:cs typeface="Sanskrit Text" panose="02020503050405020304" pitchFamily="18" charset="0"/>
              </a:rPr>
              <a:t>Detailed Study of Power BI Visual : Funnel Chart and Scatter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D7E9B-AB0B-DA45-1820-48662A71B667}"/>
              </a:ext>
            </a:extLst>
          </p:cNvPr>
          <p:cNvSpPr txBox="1"/>
          <p:nvPr/>
        </p:nvSpPr>
        <p:spPr>
          <a:xfrm>
            <a:off x="711270" y="1874206"/>
            <a:ext cx="10416749" cy="5186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Key Features of Funnel Chart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Stage-wise Representation - </a:t>
            </a:r>
            <a:r>
              <a:rPr lang="en-US" sz="2200" dirty="0"/>
              <a:t>Shows each step of the process clearly.</a:t>
            </a:r>
            <a:endParaRPr lang="en-IN" sz="22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Automatic Sorting - </a:t>
            </a:r>
            <a:r>
              <a:rPr lang="en-US" sz="2200" dirty="0"/>
              <a:t>Displays data in descending order with highest at top.</a:t>
            </a:r>
            <a:endParaRPr lang="en-IN" sz="22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Data Labels - </a:t>
            </a:r>
            <a:r>
              <a:rPr lang="en-US" sz="2200" dirty="0"/>
              <a:t>Shows values and percentages for easy understanding.</a:t>
            </a:r>
            <a:endParaRPr lang="en-IN" sz="22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Visual Drop-off - </a:t>
            </a:r>
            <a:r>
              <a:rPr lang="en-US" sz="2200" dirty="0"/>
              <a:t>Clearly highlights where the biggest decrease occurs.</a:t>
            </a:r>
            <a:endParaRPr lang="en-IN" sz="2200" b="1" dirty="0"/>
          </a:p>
          <a:p>
            <a:endParaRPr lang="en-IN" sz="2200" dirty="0"/>
          </a:p>
          <a:p>
            <a:endParaRPr lang="en-IN" b="1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1166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3870-CAD0-4C7C-3AF5-7FFD4E786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FCC17-7E8A-7418-DEFB-DE71C382E366}"/>
              </a:ext>
            </a:extLst>
          </p:cNvPr>
          <p:cNvSpPr/>
          <p:nvPr/>
        </p:nvSpPr>
        <p:spPr>
          <a:xfrm>
            <a:off x="0" y="0"/>
            <a:ext cx="12192000" cy="1172018"/>
          </a:xfrm>
          <a:prstGeom prst="rect">
            <a:avLst/>
          </a:prstGeom>
          <a:solidFill>
            <a:schemeClr val="bg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623C19F5-DC43-48F8-B4CD-14DF4A1D9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121" y="49715"/>
            <a:ext cx="1143879" cy="1091029"/>
          </a:xfrm>
          <a:prstGeom prst="rect">
            <a:avLst/>
          </a:prstGeom>
        </p:spPr>
      </p:pic>
      <p:pic>
        <p:nvPicPr>
          <p:cNvPr id="1026" name="Picture 2" descr="VTU-Logo-250×250 – SJB INSTITUTE OF TECHNOLOGY">
            <a:extLst>
              <a:ext uri="{FF2B5EF4-FFF2-40B4-BE49-F238E27FC236}">
                <a16:creationId xmlns:a16="http://schemas.microsoft.com/office/drawing/2014/main" id="{D29535EB-13DD-253A-4A59-E238CE3EF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" y="40493"/>
            <a:ext cx="1107336" cy="109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F8BF44-38D9-7461-1A0E-91A5EC526646}"/>
              </a:ext>
            </a:extLst>
          </p:cNvPr>
          <p:cNvSpPr txBox="1"/>
          <p:nvPr/>
        </p:nvSpPr>
        <p:spPr>
          <a:xfrm>
            <a:off x="2789274" y="0"/>
            <a:ext cx="661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3B5E"/>
                </a:solidFill>
                <a:effectLst/>
                <a:uLnTx/>
                <a:uFillTx/>
                <a:latin typeface="Sanskrit Text" panose="020B0502040204020203" pitchFamily="18" charset="0"/>
                <a:ea typeface="+mn-ea"/>
                <a:cs typeface="Sanskrit Text" panose="020B0502040204020203" pitchFamily="18" charset="0"/>
              </a:rPr>
              <a:t>Internship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9AE42-C292-54F6-1300-B796E386C600}"/>
              </a:ext>
            </a:extLst>
          </p:cNvPr>
          <p:cNvSpPr txBox="1"/>
          <p:nvPr/>
        </p:nvSpPr>
        <p:spPr>
          <a:xfrm>
            <a:off x="1552354" y="395175"/>
            <a:ext cx="9271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5229"/>
                </a:solidFill>
                <a:effectLst/>
                <a:uLnTx/>
                <a:uFillTx/>
                <a:latin typeface="Raavi" panose="020B0502040204020203" pitchFamily="34" charset="0"/>
                <a:ea typeface="+mn-ea"/>
                <a:cs typeface="Raavi" panose="020B0502040204020203" pitchFamily="34" charset="0"/>
              </a:rPr>
              <a:t>Data Analytics using Power BI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740CE7-55A4-E2CE-1C32-D34B8B38D709}"/>
              </a:ext>
            </a:extLst>
          </p:cNvPr>
          <p:cNvCxnSpPr>
            <a:cxnSpLocks/>
          </p:cNvCxnSpPr>
          <p:nvPr/>
        </p:nvCxnSpPr>
        <p:spPr>
          <a:xfrm>
            <a:off x="1606738" y="795285"/>
            <a:ext cx="8793125" cy="0"/>
          </a:xfrm>
          <a:prstGeom prst="line">
            <a:avLst/>
          </a:prstGeom>
          <a:ln w="57150">
            <a:solidFill>
              <a:srgbClr val="FF9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F707946-384A-B20A-315F-BFEF09FC0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5956006" cy="26773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t>. Chandana C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Intern , iRobo Automation Pvt Ltd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30EEC-782D-A48F-39E6-090F2EEA9D39}"/>
              </a:ext>
            </a:extLst>
          </p:cNvPr>
          <p:cNvSpPr>
            <a:spLocks noGrp="1"/>
          </p:cNvSpPr>
          <p:nvPr/>
        </p:nvSpPr>
        <p:spPr>
          <a:xfrm>
            <a:off x="381739" y="985421"/>
            <a:ext cx="10666382" cy="1506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B781E-56B7-E96E-22B8-6F60E321AA02}"/>
              </a:ext>
            </a:extLst>
          </p:cNvPr>
          <p:cNvSpPr>
            <a:spLocks noGrp="1"/>
          </p:cNvSpPr>
          <p:nvPr/>
        </p:nvSpPr>
        <p:spPr>
          <a:xfrm>
            <a:off x="301841" y="2076450"/>
            <a:ext cx="8353888" cy="4781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9B094B-B297-4AC6-7216-1BD99103A5DE}"/>
              </a:ext>
            </a:extLst>
          </p:cNvPr>
          <p:cNvSpPr txBox="1"/>
          <p:nvPr/>
        </p:nvSpPr>
        <p:spPr>
          <a:xfrm>
            <a:off x="2263076" y="826063"/>
            <a:ext cx="7641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1E3B5E"/>
                </a:solidFill>
                <a:latin typeface="Sanskrit Text" panose="02020503050405020304" pitchFamily="18" charset="0"/>
                <a:cs typeface="Sanskrit Text" panose="02020503050405020304" pitchFamily="18" charset="0"/>
              </a:rPr>
              <a:t>Detailed Study of Power BI Visual : Funnel Chart and Scatter Chart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D372BB-B409-ED0B-E375-CA2326AC5D7C}"/>
              </a:ext>
            </a:extLst>
          </p:cNvPr>
          <p:cNvSpPr txBox="1"/>
          <p:nvPr/>
        </p:nvSpPr>
        <p:spPr>
          <a:xfrm>
            <a:off x="189753" y="1031308"/>
            <a:ext cx="10746279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Applications of Funnel Chart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In sales </a:t>
            </a:r>
            <a:r>
              <a:rPr lang="en-US" sz="2200" dirty="0"/>
              <a:t>→ tracking customer journey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In e-commerce </a:t>
            </a:r>
            <a:r>
              <a:rPr lang="en-US" sz="2200" dirty="0"/>
              <a:t>→ tracking purchases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In recruitment </a:t>
            </a:r>
            <a:r>
              <a:rPr lang="en-US" sz="2200" dirty="0"/>
              <a:t>→ tracking hiring stages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In manufacturing </a:t>
            </a:r>
            <a:r>
              <a:rPr lang="en-US" sz="2200" dirty="0"/>
              <a:t>→ tracking production flow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>
              <a:lnSpc>
                <a:spcPct val="150000"/>
              </a:lnSpc>
            </a:pPr>
            <a:r>
              <a:rPr lang="en-US" sz="2200" b="1" dirty="0"/>
              <a:t>Advantages of Funnel Chart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/>
              <a:t>Easy to Understand</a:t>
            </a:r>
            <a:r>
              <a:rPr lang="en-US" sz="2200" dirty="0"/>
              <a:t> – Simple visual makes process flow clear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/>
              <a:t>Shows Drop-offs Clearly</a:t>
            </a:r>
            <a:r>
              <a:rPr lang="en-US" sz="2200" dirty="0"/>
              <a:t> – Identifies where major losses occur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/>
              <a:t>Supports Decision-Making</a:t>
            </a:r>
            <a:r>
              <a:rPr lang="en-US" sz="2200" dirty="0"/>
              <a:t> – Helps improve weak stages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/>
              <a:t>Saves Time</a:t>
            </a:r>
            <a:r>
              <a:rPr lang="en-US" sz="2200" dirty="0"/>
              <a:t> – Provides quick insights at a glance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260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63079-BE83-8310-42FF-61D7D618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9A8480-98A8-D957-A0D2-2BA4B5CA90DE}"/>
              </a:ext>
            </a:extLst>
          </p:cNvPr>
          <p:cNvSpPr/>
          <p:nvPr/>
        </p:nvSpPr>
        <p:spPr>
          <a:xfrm>
            <a:off x="0" y="0"/>
            <a:ext cx="12192000" cy="1172018"/>
          </a:xfrm>
          <a:prstGeom prst="rect">
            <a:avLst/>
          </a:prstGeom>
          <a:solidFill>
            <a:schemeClr val="bg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BBCF9500-5BE3-6078-6997-7E9E44039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121" y="49715"/>
            <a:ext cx="1143879" cy="1091029"/>
          </a:xfrm>
          <a:prstGeom prst="rect">
            <a:avLst/>
          </a:prstGeom>
        </p:spPr>
      </p:pic>
      <p:pic>
        <p:nvPicPr>
          <p:cNvPr id="1026" name="Picture 2" descr="VTU-Logo-250×250 – SJB INSTITUTE OF TECHNOLOGY">
            <a:extLst>
              <a:ext uri="{FF2B5EF4-FFF2-40B4-BE49-F238E27FC236}">
                <a16:creationId xmlns:a16="http://schemas.microsoft.com/office/drawing/2014/main" id="{EF13B0DC-7AD8-B78B-1715-AFBC54FAD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" y="40493"/>
            <a:ext cx="1107336" cy="109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25AEB6-FE48-F688-21E2-56AD8AF5E0FB}"/>
              </a:ext>
            </a:extLst>
          </p:cNvPr>
          <p:cNvSpPr txBox="1"/>
          <p:nvPr/>
        </p:nvSpPr>
        <p:spPr>
          <a:xfrm>
            <a:off x="2789274" y="0"/>
            <a:ext cx="661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3B5E"/>
                </a:solidFill>
                <a:effectLst/>
                <a:uLnTx/>
                <a:uFillTx/>
                <a:latin typeface="Sanskrit Text" panose="020B0502040204020203" pitchFamily="18" charset="0"/>
                <a:ea typeface="+mn-ea"/>
                <a:cs typeface="Sanskrit Text" panose="020B0502040204020203" pitchFamily="18" charset="0"/>
              </a:rPr>
              <a:t>Internship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07A586-926A-BBF8-9306-FEDB92BEE611}"/>
              </a:ext>
            </a:extLst>
          </p:cNvPr>
          <p:cNvSpPr txBox="1"/>
          <p:nvPr/>
        </p:nvSpPr>
        <p:spPr>
          <a:xfrm>
            <a:off x="1552354" y="395175"/>
            <a:ext cx="9271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5229"/>
                </a:solidFill>
                <a:effectLst/>
                <a:uLnTx/>
                <a:uFillTx/>
                <a:latin typeface="Raavi" panose="020B0502040204020203" pitchFamily="34" charset="0"/>
                <a:ea typeface="+mn-ea"/>
                <a:cs typeface="Raavi" panose="020B0502040204020203" pitchFamily="34" charset="0"/>
              </a:rPr>
              <a:t>Data Analytics using Power BI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CB6DEF-3D72-2D09-D2A5-9DE64266BB11}"/>
              </a:ext>
            </a:extLst>
          </p:cNvPr>
          <p:cNvCxnSpPr>
            <a:cxnSpLocks/>
          </p:cNvCxnSpPr>
          <p:nvPr/>
        </p:nvCxnSpPr>
        <p:spPr>
          <a:xfrm>
            <a:off x="1606738" y="795285"/>
            <a:ext cx="8793125" cy="0"/>
          </a:xfrm>
          <a:prstGeom prst="line">
            <a:avLst/>
          </a:prstGeom>
          <a:ln w="57150">
            <a:solidFill>
              <a:srgbClr val="FF9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1C37DBB-70D8-F53A-06AB-F688C2E8F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6719" y="6328958"/>
            <a:ext cx="5956006" cy="267733"/>
          </a:xfrm>
        </p:spPr>
        <p:txBody>
          <a:bodyPr/>
          <a:lstStyle/>
          <a:p>
            <a:pPr lvl="0"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t>. 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</a:rPr>
              <a:t>Chandana C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Intern , iRobo Automation Pvt Ltd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878DEE-8AF3-EC64-2298-3F4A076DDFE0}"/>
              </a:ext>
            </a:extLst>
          </p:cNvPr>
          <p:cNvSpPr>
            <a:spLocks noGrp="1"/>
          </p:cNvSpPr>
          <p:nvPr/>
        </p:nvSpPr>
        <p:spPr>
          <a:xfrm>
            <a:off x="381739" y="985421"/>
            <a:ext cx="10666382" cy="1506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0C3721-D425-9092-951E-85B87463832D}"/>
              </a:ext>
            </a:extLst>
          </p:cNvPr>
          <p:cNvSpPr>
            <a:spLocks noGrp="1"/>
          </p:cNvSpPr>
          <p:nvPr/>
        </p:nvSpPr>
        <p:spPr>
          <a:xfrm>
            <a:off x="301841" y="2076450"/>
            <a:ext cx="8353888" cy="4781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8A5DF-C557-6E72-B6A2-D823A049A459}"/>
              </a:ext>
            </a:extLst>
          </p:cNvPr>
          <p:cNvSpPr txBox="1"/>
          <p:nvPr/>
        </p:nvSpPr>
        <p:spPr>
          <a:xfrm>
            <a:off x="2263076" y="826063"/>
            <a:ext cx="7641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1E3B5E"/>
                </a:solidFill>
                <a:latin typeface="Sanskrit Text" panose="02020503050405020304" pitchFamily="18" charset="0"/>
                <a:cs typeface="Sanskrit Text" panose="02020503050405020304" pitchFamily="18" charset="0"/>
              </a:rPr>
              <a:t>Detailed Study of Power BI Visual : Funnel Chart and Scatter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9F837-A1A5-69F8-C716-14804F741D4A}"/>
              </a:ext>
            </a:extLst>
          </p:cNvPr>
          <p:cNvSpPr txBox="1"/>
          <p:nvPr/>
        </p:nvSpPr>
        <p:spPr>
          <a:xfrm>
            <a:off x="717254" y="1321657"/>
            <a:ext cx="999535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SCATTER CHART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What is a Scatter Chart?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Scatter Chart (Scatter Plot) is a visualization used to show the </a:t>
            </a:r>
            <a:r>
              <a:rPr lang="en-US" sz="2200" b="1" dirty="0"/>
              <a:t>relationship between two numerical variables</a:t>
            </a:r>
            <a:r>
              <a:rPr lang="en-US" sz="2200" dirty="0"/>
              <a:t> by plotting data points on a 2D plane.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Each data point represents one observation.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It is plotted using: </a:t>
            </a:r>
          </a:p>
          <a:p>
            <a:pPr lvl="1">
              <a:lnSpc>
                <a:spcPct val="150000"/>
              </a:lnSpc>
            </a:pPr>
            <a:r>
              <a:rPr lang="en-US" sz="2200" b="1" dirty="0"/>
              <a:t>X-axis - </a:t>
            </a:r>
            <a:r>
              <a:rPr lang="en-IN" sz="2200" dirty="0"/>
              <a:t>The variable that </a:t>
            </a:r>
            <a:r>
              <a:rPr lang="en-IN" sz="2200" b="1" dirty="0"/>
              <a:t>influences or affects another</a:t>
            </a:r>
            <a:endParaRPr lang="en-US" sz="2200" b="1" dirty="0"/>
          </a:p>
          <a:p>
            <a:pPr lvl="1">
              <a:lnSpc>
                <a:spcPct val="150000"/>
              </a:lnSpc>
            </a:pPr>
            <a:r>
              <a:rPr lang="en-US" sz="2200" b="1" dirty="0"/>
              <a:t>Y-axis - </a:t>
            </a:r>
            <a:r>
              <a:rPr lang="en-IN" sz="2200" dirty="0"/>
              <a:t>The variable that </a:t>
            </a:r>
            <a:r>
              <a:rPr lang="en-IN" sz="2200" b="1" dirty="0"/>
              <a:t>depends on X</a:t>
            </a:r>
            <a:endParaRPr lang="en-US" sz="2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scatter chart shows how one variable affects another.</a:t>
            </a:r>
          </a:p>
          <a:p>
            <a:endParaRPr lang="en-US" dirty="0"/>
          </a:p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65221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3E53-3630-0511-9283-A999C1FA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806A02-D8DA-B63C-B92A-005FB56C9EF3}"/>
              </a:ext>
            </a:extLst>
          </p:cNvPr>
          <p:cNvSpPr/>
          <p:nvPr/>
        </p:nvSpPr>
        <p:spPr>
          <a:xfrm>
            <a:off x="0" y="0"/>
            <a:ext cx="12192000" cy="1172018"/>
          </a:xfrm>
          <a:prstGeom prst="rect">
            <a:avLst/>
          </a:prstGeom>
          <a:solidFill>
            <a:schemeClr val="bg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B287600B-F0FF-7CF0-E23A-C9B80F5DB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121" y="49715"/>
            <a:ext cx="1143879" cy="1091029"/>
          </a:xfrm>
          <a:prstGeom prst="rect">
            <a:avLst/>
          </a:prstGeom>
        </p:spPr>
      </p:pic>
      <p:pic>
        <p:nvPicPr>
          <p:cNvPr id="1026" name="Picture 2" descr="VTU-Logo-250×250 – SJB INSTITUTE OF TECHNOLOGY">
            <a:extLst>
              <a:ext uri="{FF2B5EF4-FFF2-40B4-BE49-F238E27FC236}">
                <a16:creationId xmlns:a16="http://schemas.microsoft.com/office/drawing/2014/main" id="{D55FC08D-52E6-6A35-0163-28BDB0D69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" y="40493"/>
            <a:ext cx="1107336" cy="109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B1EF6E-57EE-6433-1DEA-6A7895E6E4D1}"/>
              </a:ext>
            </a:extLst>
          </p:cNvPr>
          <p:cNvSpPr txBox="1"/>
          <p:nvPr/>
        </p:nvSpPr>
        <p:spPr>
          <a:xfrm>
            <a:off x="2789274" y="0"/>
            <a:ext cx="661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3B5E"/>
                </a:solidFill>
                <a:effectLst/>
                <a:uLnTx/>
                <a:uFillTx/>
                <a:latin typeface="Sanskrit Text" panose="020B0502040204020203" pitchFamily="18" charset="0"/>
                <a:ea typeface="+mn-ea"/>
                <a:cs typeface="Sanskrit Text" panose="020B0502040204020203" pitchFamily="18" charset="0"/>
              </a:rPr>
              <a:t>Internship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6B50F-AA83-D22E-2ADB-8CB6040474F2}"/>
              </a:ext>
            </a:extLst>
          </p:cNvPr>
          <p:cNvSpPr txBox="1"/>
          <p:nvPr/>
        </p:nvSpPr>
        <p:spPr>
          <a:xfrm>
            <a:off x="1552354" y="395175"/>
            <a:ext cx="9271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5229"/>
                </a:solidFill>
                <a:effectLst/>
                <a:uLnTx/>
                <a:uFillTx/>
                <a:latin typeface="Raavi" panose="020B0502040204020203" pitchFamily="34" charset="0"/>
                <a:ea typeface="+mn-ea"/>
                <a:cs typeface="Raavi" panose="020B0502040204020203" pitchFamily="34" charset="0"/>
              </a:rPr>
              <a:t>Data Analytics using Power BI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D0187C-F033-645B-7C0B-E65BE03F93D1}"/>
              </a:ext>
            </a:extLst>
          </p:cNvPr>
          <p:cNvCxnSpPr>
            <a:cxnSpLocks/>
          </p:cNvCxnSpPr>
          <p:nvPr/>
        </p:nvCxnSpPr>
        <p:spPr>
          <a:xfrm>
            <a:off x="1606738" y="795285"/>
            <a:ext cx="8793125" cy="0"/>
          </a:xfrm>
          <a:prstGeom prst="line">
            <a:avLst/>
          </a:prstGeom>
          <a:ln w="57150">
            <a:solidFill>
              <a:srgbClr val="FF9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CBC503D-0AC4-6996-5416-FA04A24A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72839" y="6328958"/>
            <a:ext cx="5956006" cy="267733"/>
          </a:xfrm>
        </p:spPr>
        <p:txBody>
          <a:bodyPr/>
          <a:lstStyle/>
          <a:p>
            <a:pPr lvl="0"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t>. 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</a:rPr>
              <a:t>Chandana C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Intern , iRobo Automation Pvt Ltd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D4B945-0C09-81EB-4B18-56B9681391C2}"/>
              </a:ext>
            </a:extLst>
          </p:cNvPr>
          <p:cNvSpPr>
            <a:spLocks noGrp="1"/>
          </p:cNvSpPr>
          <p:nvPr/>
        </p:nvSpPr>
        <p:spPr>
          <a:xfrm>
            <a:off x="381739" y="985421"/>
            <a:ext cx="10666382" cy="1506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520C57-EC40-98E9-7329-2E72A5AB124E}"/>
              </a:ext>
            </a:extLst>
          </p:cNvPr>
          <p:cNvSpPr>
            <a:spLocks noGrp="1"/>
          </p:cNvSpPr>
          <p:nvPr/>
        </p:nvSpPr>
        <p:spPr>
          <a:xfrm>
            <a:off x="301841" y="2076450"/>
            <a:ext cx="8353888" cy="4781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47D5A8-C9B8-EA97-F8C2-D52F044F5A46}"/>
              </a:ext>
            </a:extLst>
          </p:cNvPr>
          <p:cNvSpPr txBox="1"/>
          <p:nvPr/>
        </p:nvSpPr>
        <p:spPr>
          <a:xfrm>
            <a:off x="2263076" y="826063"/>
            <a:ext cx="7641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1E3B5E"/>
                </a:solidFill>
                <a:latin typeface="Sanskrit Text" panose="02020503050405020304" pitchFamily="18" charset="0"/>
                <a:cs typeface="Sanskrit Text" panose="02020503050405020304" pitchFamily="18" charset="0"/>
              </a:rPr>
              <a:t>Detailed Study of Power BI Visual : Funnel Chart and Scatter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4701D1-1BDD-D137-4942-DEE22BA715F3}"/>
              </a:ext>
            </a:extLst>
          </p:cNvPr>
          <p:cNvSpPr txBox="1"/>
          <p:nvPr/>
        </p:nvSpPr>
        <p:spPr>
          <a:xfrm>
            <a:off x="626929" y="1465514"/>
            <a:ext cx="93676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sz="2200" b="1" dirty="0"/>
              <a:t>Key Features of scatter chart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Two-axis representation – </a:t>
            </a:r>
            <a:r>
              <a:rPr lang="en-US" sz="2200" dirty="0"/>
              <a:t>Uses X-axis and Y-axis to plot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Data points (markers) -  </a:t>
            </a:r>
            <a:r>
              <a:rPr lang="en-US" sz="2200" dirty="0"/>
              <a:t>Each point represents a single record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Bubble size- </a:t>
            </a:r>
            <a:r>
              <a:rPr lang="en-IN" sz="2200" dirty="0"/>
              <a:t>Larger bubbles indicate higher values of that variable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Legend (Color Coding) - </a:t>
            </a:r>
            <a:r>
              <a:rPr lang="en-US" sz="2200" dirty="0"/>
              <a:t>Categories shown using different colors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Play axis for animations </a:t>
            </a:r>
            <a:r>
              <a:rPr lang="en-US" sz="2200" dirty="0"/>
              <a:t>- Shows changes over time dynamically</a:t>
            </a:r>
          </a:p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47130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E0D01-9535-153F-5315-D7F581C76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4A6523-4453-B95C-FC07-53189D9EF845}"/>
              </a:ext>
            </a:extLst>
          </p:cNvPr>
          <p:cNvSpPr/>
          <p:nvPr/>
        </p:nvSpPr>
        <p:spPr>
          <a:xfrm>
            <a:off x="0" y="0"/>
            <a:ext cx="12192000" cy="1172018"/>
          </a:xfrm>
          <a:prstGeom prst="rect">
            <a:avLst/>
          </a:prstGeom>
          <a:solidFill>
            <a:schemeClr val="bg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C7BC55A2-4EE0-8A64-7AE0-54F5F493A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121" y="49715"/>
            <a:ext cx="1143879" cy="1091029"/>
          </a:xfrm>
          <a:prstGeom prst="rect">
            <a:avLst/>
          </a:prstGeom>
        </p:spPr>
      </p:pic>
      <p:pic>
        <p:nvPicPr>
          <p:cNvPr id="1026" name="Picture 2" descr="VTU-Logo-250×250 – SJB INSTITUTE OF TECHNOLOGY">
            <a:extLst>
              <a:ext uri="{FF2B5EF4-FFF2-40B4-BE49-F238E27FC236}">
                <a16:creationId xmlns:a16="http://schemas.microsoft.com/office/drawing/2014/main" id="{3FE53183-5547-D195-91DC-FCB2F2805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" y="40493"/>
            <a:ext cx="1107336" cy="109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465A5C-18CC-61AA-9FB0-C64C5023E4D8}"/>
              </a:ext>
            </a:extLst>
          </p:cNvPr>
          <p:cNvSpPr txBox="1"/>
          <p:nvPr/>
        </p:nvSpPr>
        <p:spPr>
          <a:xfrm>
            <a:off x="2789274" y="0"/>
            <a:ext cx="661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3B5E"/>
                </a:solidFill>
                <a:effectLst/>
                <a:uLnTx/>
                <a:uFillTx/>
                <a:latin typeface="Sanskrit Text" panose="020B0502040204020203" pitchFamily="18" charset="0"/>
                <a:ea typeface="+mn-ea"/>
                <a:cs typeface="Sanskrit Text" panose="020B0502040204020203" pitchFamily="18" charset="0"/>
              </a:rPr>
              <a:t>Internship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663DA-850B-E0A1-DED8-56806DC503A5}"/>
              </a:ext>
            </a:extLst>
          </p:cNvPr>
          <p:cNvSpPr txBox="1"/>
          <p:nvPr/>
        </p:nvSpPr>
        <p:spPr>
          <a:xfrm>
            <a:off x="1552354" y="395175"/>
            <a:ext cx="9271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5229"/>
                </a:solidFill>
                <a:effectLst/>
                <a:uLnTx/>
                <a:uFillTx/>
                <a:latin typeface="Raavi" panose="020B0502040204020203" pitchFamily="34" charset="0"/>
                <a:ea typeface="+mn-ea"/>
                <a:cs typeface="Raavi" panose="020B0502040204020203" pitchFamily="34" charset="0"/>
              </a:rPr>
              <a:t>Data Analytics using Power BI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81C6CF-3CEC-37AB-4BE2-648CE14C8024}"/>
              </a:ext>
            </a:extLst>
          </p:cNvPr>
          <p:cNvCxnSpPr>
            <a:cxnSpLocks/>
          </p:cNvCxnSpPr>
          <p:nvPr/>
        </p:nvCxnSpPr>
        <p:spPr>
          <a:xfrm>
            <a:off x="1606738" y="795285"/>
            <a:ext cx="8793125" cy="0"/>
          </a:xfrm>
          <a:prstGeom prst="line">
            <a:avLst/>
          </a:prstGeom>
          <a:ln w="57150">
            <a:solidFill>
              <a:srgbClr val="FF9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372EED6-C059-F11D-7EE7-D376ED92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599" y="6328958"/>
            <a:ext cx="5956006" cy="267733"/>
          </a:xfrm>
        </p:spPr>
        <p:txBody>
          <a:bodyPr/>
          <a:lstStyle/>
          <a:p>
            <a:pPr lvl="0"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t>. 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</a:rPr>
              <a:t>Chandana C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Intern , iRobo Automation Pvt Ltd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1FEE4-80B3-BA50-4F6F-B153689ABC85}"/>
              </a:ext>
            </a:extLst>
          </p:cNvPr>
          <p:cNvSpPr>
            <a:spLocks noGrp="1"/>
          </p:cNvSpPr>
          <p:nvPr/>
        </p:nvSpPr>
        <p:spPr>
          <a:xfrm>
            <a:off x="381739" y="985421"/>
            <a:ext cx="10666382" cy="1506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D7730E-05A2-5EB7-D72E-2887A1C0661F}"/>
              </a:ext>
            </a:extLst>
          </p:cNvPr>
          <p:cNvSpPr txBox="1"/>
          <p:nvPr/>
        </p:nvSpPr>
        <p:spPr>
          <a:xfrm>
            <a:off x="2263076" y="826063"/>
            <a:ext cx="7641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1E3B5E"/>
                </a:solidFill>
                <a:latin typeface="Sanskrit Text" panose="02020503050405020304" pitchFamily="18" charset="0"/>
                <a:cs typeface="Sanskrit Text" panose="02020503050405020304" pitchFamily="18" charset="0"/>
              </a:rPr>
              <a:t>Detailed Study of Power BI Visual : Funnel Chart and Scatter Chart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A5FEDDD-766A-E928-0E89-25C503FE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39" y="1394660"/>
            <a:ext cx="9612866" cy="484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 dirty="0"/>
          </a:p>
          <a:p>
            <a:r>
              <a:rPr lang="en-US" sz="2200" b="1" dirty="0"/>
              <a:t>Why Use Scatter Chart?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To understand </a:t>
            </a:r>
            <a:r>
              <a:rPr lang="en-US" sz="2200" b="1" dirty="0"/>
              <a:t>relationship between variables</a:t>
            </a:r>
            <a:r>
              <a:rPr lang="en-US" sz="22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To identify </a:t>
            </a:r>
            <a:r>
              <a:rPr lang="en-US" sz="2200" b="1" dirty="0"/>
              <a:t>correlation </a:t>
            </a:r>
          </a:p>
          <a:p>
            <a:pPr>
              <a:lnSpc>
                <a:spcPct val="150000"/>
              </a:lnSpc>
            </a:pPr>
            <a:r>
              <a:rPr lang="en-IN" sz="2200" b="1" dirty="0"/>
              <a:t>       Positive/Direct Correlation- </a:t>
            </a:r>
            <a:r>
              <a:rPr lang="en-IN" sz="2200" dirty="0"/>
              <a:t>As X increases if Y increases </a:t>
            </a:r>
          </a:p>
          <a:p>
            <a:pPr>
              <a:lnSpc>
                <a:spcPct val="150000"/>
              </a:lnSpc>
            </a:pPr>
            <a:r>
              <a:rPr lang="en-IN" sz="2200" b="1" dirty="0"/>
              <a:t>       Negative/Inverse Correlation- </a:t>
            </a:r>
            <a:r>
              <a:rPr lang="en-IN" sz="2200" dirty="0"/>
              <a:t>As X increases if Y decreases </a:t>
            </a:r>
          </a:p>
          <a:p>
            <a:pPr>
              <a:lnSpc>
                <a:spcPct val="150000"/>
              </a:lnSpc>
            </a:pPr>
            <a:r>
              <a:rPr lang="en-IN" sz="2200" b="1" dirty="0"/>
              <a:t>       No Correlation –  </a:t>
            </a:r>
            <a:r>
              <a:rPr lang="en-IN" sz="2200" dirty="0"/>
              <a:t>if there is no clear pattern</a:t>
            </a:r>
            <a:endParaRPr lang="en-US" sz="22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To detect </a:t>
            </a:r>
            <a:r>
              <a:rPr lang="en-US" sz="2200" b="1" dirty="0"/>
              <a:t>patterns and trends</a:t>
            </a:r>
            <a:r>
              <a:rPr lang="en-US" sz="22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To find </a:t>
            </a:r>
            <a:r>
              <a:rPr lang="en-US" sz="2200" b="1" dirty="0"/>
              <a:t>outliers (abnormal values)</a:t>
            </a:r>
            <a:r>
              <a:rPr lang="en-US" sz="2200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031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195C8-5304-67F5-BFB3-0E8B972D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3948B4-7FE1-D2A5-B7C9-320FB5E95FBB}"/>
              </a:ext>
            </a:extLst>
          </p:cNvPr>
          <p:cNvSpPr/>
          <p:nvPr/>
        </p:nvSpPr>
        <p:spPr>
          <a:xfrm>
            <a:off x="0" y="0"/>
            <a:ext cx="12192000" cy="1172018"/>
          </a:xfrm>
          <a:prstGeom prst="rect">
            <a:avLst/>
          </a:prstGeom>
          <a:solidFill>
            <a:schemeClr val="bg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4528DFF7-F06A-A89D-5BE2-E040B213F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121" y="49715"/>
            <a:ext cx="1143879" cy="1091029"/>
          </a:xfrm>
          <a:prstGeom prst="rect">
            <a:avLst/>
          </a:prstGeom>
        </p:spPr>
      </p:pic>
      <p:pic>
        <p:nvPicPr>
          <p:cNvPr id="1026" name="Picture 2" descr="VTU-Logo-250×250 – SJB INSTITUTE OF TECHNOLOGY">
            <a:extLst>
              <a:ext uri="{FF2B5EF4-FFF2-40B4-BE49-F238E27FC236}">
                <a16:creationId xmlns:a16="http://schemas.microsoft.com/office/drawing/2014/main" id="{E2AB3422-1C5A-0B11-0F29-B95313BF0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" y="40493"/>
            <a:ext cx="1107336" cy="109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E7D1A9-4498-B6A5-CACC-5C859F1477D3}"/>
              </a:ext>
            </a:extLst>
          </p:cNvPr>
          <p:cNvSpPr txBox="1"/>
          <p:nvPr/>
        </p:nvSpPr>
        <p:spPr>
          <a:xfrm>
            <a:off x="2789274" y="0"/>
            <a:ext cx="661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3B5E"/>
                </a:solidFill>
                <a:effectLst/>
                <a:uLnTx/>
                <a:uFillTx/>
                <a:latin typeface="Sanskrit Text" panose="020B0502040204020203" pitchFamily="18" charset="0"/>
                <a:ea typeface="+mn-ea"/>
                <a:cs typeface="Sanskrit Text" panose="020B0502040204020203" pitchFamily="18" charset="0"/>
              </a:rPr>
              <a:t>Internship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E4C1C3-059E-69E3-7457-03B9B5513824}"/>
              </a:ext>
            </a:extLst>
          </p:cNvPr>
          <p:cNvSpPr txBox="1"/>
          <p:nvPr/>
        </p:nvSpPr>
        <p:spPr>
          <a:xfrm>
            <a:off x="1552354" y="395175"/>
            <a:ext cx="9271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5229"/>
                </a:solidFill>
                <a:effectLst/>
                <a:uLnTx/>
                <a:uFillTx/>
                <a:latin typeface="Raavi" panose="020B0502040204020203" pitchFamily="34" charset="0"/>
                <a:ea typeface="+mn-ea"/>
                <a:cs typeface="Raavi" panose="020B0502040204020203" pitchFamily="34" charset="0"/>
              </a:rPr>
              <a:t>Data Analytics using Power BI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F4431E-BDD9-9456-EBAB-7E18D1C80713}"/>
              </a:ext>
            </a:extLst>
          </p:cNvPr>
          <p:cNvCxnSpPr>
            <a:cxnSpLocks/>
          </p:cNvCxnSpPr>
          <p:nvPr/>
        </p:nvCxnSpPr>
        <p:spPr>
          <a:xfrm>
            <a:off x="1606738" y="795285"/>
            <a:ext cx="8793125" cy="0"/>
          </a:xfrm>
          <a:prstGeom prst="line">
            <a:avLst/>
          </a:prstGeom>
          <a:ln w="57150">
            <a:solidFill>
              <a:srgbClr val="FF9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152CC38-CB7B-A257-68D6-68DB125E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0145" y="6560513"/>
            <a:ext cx="5956006" cy="26773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t>. Chandana C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Intern , iRobo Automation Pvt Ltd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A54D0-BD68-D5A7-BE7D-34591CB86581}"/>
              </a:ext>
            </a:extLst>
          </p:cNvPr>
          <p:cNvSpPr>
            <a:spLocks noGrp="1"/>
          </p:cNvSpPr>
          <p:nvPr/>
        </p:nvSpPr>
        <p:spPr>
          <a:xfrm>
            <a:off x="454460" y="1973598"/>
            <a:ext cx="11097679" cy="3919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8000" b="1" dirty="0">
                <a:latin typeface="+mn-lt"/>
              </a:rPr>
              <a:t>Applications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8000" b="1" dirty="0">
                <a:latin typeface="+mn-lt"/>
              </a:rPr>
              <a:t>Business: </a:t>
            </a:r>
            <a:r>
              <a:rPr lang="en-US" sz="8000" dirty="0">
                <a:latin typeface="+mn-lt"/>
              </a:rPr>
              <a:t>To analyze relationships like </a:t>
            </a:r>
            <a:r>
              <a:rPr lang="en-US" sz="8000" b="1" dirty="0">
                <a:latin typeface="+mn-lt"/>
              </a:rPr>
              <a:t>sales vs profit </a:t>
            </a:r>
            <a:r>
              <a:rPr lang="en-US" sz="8000" dirty="0">
                <a:latin typeface="+mn-lt"/>
              </a:rPr>
              <a:t>to understand performance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8000" b="1" dirty="0">
                <a:latin typeface="+mn-lt"/>
              </a:rPr>
              <a:t>Marketing: </a:t>
            </a:r>
            <a:r>
              <a:rPr lang="en-US" sz="8000" dirty="0">
                <a:latin typeface="+mn-lt"/>
              </a:rPr>
              <a:t>Helps compare </a:t>
            </a:r>
            <a:r>
              <a:rPr lang="en-US" sz="8000" b="1" dirty="0">
                <a:latin typeface="+mn-lt"/>
              </a:rPr>
              <a:t>advertising spend with revenue</a:t>
            </a:r>
            <a:r>
              <a:rPr lang="en-US" sz="8000" dirty="0">
                <a:latin typeface="+mn-lt"/>
              </a:rPr>
              <a:t> or customer reach.</a:t>
            </a:r>
            <a:endParaRPr lang="en-US" sz="8000" b="1" dirty="0">
              <a:latin typeface="+mn-lt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8000" b="1" dirty="0">
                <a:latin typeface="+mn-lt"/>
              </a:rPr>
              <a:t>Manufacturing: </a:t>
            </a:r>
            <a:r>
              <a:rPr lang="en-US" sz="8000" dirty="0">
                <a:latin typeface="+mn-lt"/>
              </a:rPr>
              <a:t>Used to study machine efficiency by</a:t>
            </a:r>
            <a:r>
              <a:rPr lang="en-US" sz="8000" b="1" dirty="0">
                <a:latin typeface="+mn-lt"/>
              </a:rPr>
              <a:t> comparing inputs and outputs</a:t>
            </a:r>
            <a:r>
              <a:rPr lang="en-US" sz="8000" dirty="0">
                <a:latin typeface="+mn-lt"/>
              </a:rPr>
              <a:t>.</a:t>
            </a:r>
            <a:endParaRPr lang="en-US" sz="8000" b="1" dirty="0">
              <a:latin typeface="+mn-lt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8000" b="1" dirty="0">
                <a:latin typeface="+mn-lt"/>
              </a:rPr>
              <a:t>Supply Chain: </a:t>
            </a:r>
            <a:r>
              <a:rPr lang="en-US" sz="8000" dirty="0">
                <a:latin typeface="+mn-lt"/>
              </a:rPr>
              <a:t>Analyzes delivery </a:t>
            </a:r>
            <a:r>
              <a:rPr lang="en-US" sz="8000" b="1" dirty="0">
                <a:latin typeface="+mn-lt"/>
              </a:rPr>
              <a:t>time versus cost </a:t>
            </a:r>
            <a:r>
              <a:rPr lang="en-US" sz="8000" dirty="0">
                <a:latin typeface="+mn-lt"/>
              </a:rPr>
              <a:t>or efficiency. 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8000" b="1" dirty="0">
                <a:latin typeface="+mn-lt"/>
              </a:rPr>
              <a:t>Education: T</a:t>
            </a:r>
            <a:r>
              <a:rPr lang="en-US" sz="8000" dirty="0">
                <a:latin typeface="+mn-lt"/>
              </a:rPr>
              <a:t>o compare </a:t>
            </a:r>
            <a:r>
              <a:rPr lang="en-US" sz="8000" b="1" dirty="0">
                <a:latin typeface="+mn-lt"/>
              </a:rPr>
              <a:t>study hours with marks </a:t>
            </a:r>
            <a:r>
              <a:rPr lang="en-US" sz="8000" dirty="0">
                <a:latin typeface="+mn-lt"/>
              </a:rPr>
              <a:t>or performance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8000" b="1" dirty="0"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sz="8000" b="1" dirty="0">
                <a:latin typeface="+mn-lt"/>
              </a:rPr>
              <a:t>Advantages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8000" b="1" dirty="0">
                <a:latin typeface="+mn-lt"/>
              </a:rPr>
              <a:t>Shows relationships clearly </a:t>
            </a:r>
            <a:r>
              <a:rPr lang="en-US" sz="8000" dirty="0">
                <a:latin typeface="+mn-lt"/>
              </a:rPr>
              <a:t>- Helps identify trends between variables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8000" b="1" dirty="0">
                <a:latin typeface="+mn-lt"/>
              </a:rPr>
              <a:t>Identifies patterns and trends </a:t>
            </a:r>
            <a:r>
              <a:rPr lang="en-US" sz="8000" dirty="0">
                <a:latin typeface="+mn-lt"/>
              </a:rPr>
              <a:t>- Detect clusters, gaps, and trends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8000" b="1" dirty="0">
                <a:latin typeface="+mn-lt"/>
              </a:rPr>
              <a:t>Detects outliers </a:t>
            </a:r>
            <a:r>
              <a:rPr lang="en-US" sz="8000" dirty="0">
                <a:latin typeface="+mn-lt"/>
              </a:rPr>
              <a:t>- </a:t>
            </a:r>
            <a:r>
              <a:rPr lang="en-IN" sz="8000" dirty="0">
                <a:latin typeface="+mn-lt"/>
              </a:rPr>
              <a:t>Easily spots abnormal values (Points far from others)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8000" b="1" dirty="0">
                <a:latin typeface="+mn-lt"/>
              </a:rPr>
              <a:t>Supports multiple variables - </a:t>
            </a:r>
            <a:r>
              <a:rPr lang="en-US" sz="8000" dirty="0">
                <a:latin typeface="+mn-lt"/>
              </a:rPr>
              <a:t>Can include size and color for extra insights</a:t>
            </a:r>
            <a:endParaRPr lang="en-US" sz="8000" b="1" dirty="0">
              <a:latin typeface="+mn-lt"/>
            </a:endParaRPr>
          </a:p>
          <a:p>
            <a:endParaRPr lang="en-IN" sz="1800" dirty="0"/>
          </a:p>
          <a:p>
            <a:endParaRPr lang="en-IN" sz="1800" dirty="0"/>
          </a:p>
          <a:p>
            <a:endParaRPr lang="en-IN" sz="1800" b="1" dirty="0"/>
          </a:p>
          <a:p>
            <a:endParaRPr lang="en-IN" sz="18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20B998-4514-687D-2A80-873B13851735}"/>
              </a:ext>
            </a:extLst>
          </p:cNvPr>
          <p:cNvSpPr>
            <a:spLocks noGrp="1"/>
          </p:cNvSpPr>
          <p:nvPr/>
        </p:nvSpPr>
        <p:spPr>
          <a:xfrm>
            <a:off x="408521" y="1394478"/>
            <a:ext cx="10522102" cy="4781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044F6B-E5D0-5018-C90D-E749EF223A8C}"/>
              </a:ext>
            </a:extLst>
          </p:cNvPr>
          <p:cNvSpPr txBox="1"/>
          <p:nvPr/>
        </p:nvSpPr>
        <p:spPr>
          <a:xfrm>
            <a:off x="2263076" y="826063"/>
            <a:ext cx="7641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1E3B5E"/>
                </a:solidFill>
                <a:latin typeface="Sanskrit Text" panose="02020503050405020304" pitchFamily="18" charset="0"/>
                <a:cs typeface="Sanskrit Text" panose="02020503050405020304" pitchFamily="18" charset="0"/>
              </a:rPr>
              <a:t>Detailed Study of Power BI Visual : Funnel Chart and Scatter Chart</a:t>
            </a:r>
          </a:p>
        </p:txBody>
      </p:sp>
    </p:spTree>
    <p:extLst>
      <p:ext uri="{BB962C8B-B14F-4D97-AF65-F5344CB8AC3E}">
        <p14:creationId xmlns:p14="http://schemas.microsoft.com/office/powerpoint/2010/main" val="226648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8F4-F09D-9DE0-B9F3-B7E5D998E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200F81-0FDA-EAF3-354D-465E10919299}"/>
              </a:ext>
            </a:extLst>
          </p:cNvPr>
          <p:cNvSpPr/>
          <p:nvPr/>
        </p:nvSpPr>
        <p:spPr>
          <a:xfrm>
            <a:off x="0" y="0"/>
            <a:ext cx="12192000" cy="1172018"/>
          </a:xfrm>
          <a:prstGeom prst="rect">
            <a:avLst/>
          </a:prstGeom>
          <a:solidFill>
            <a:schemeClr val="bg2"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E6BE8B74-6741-6832-E955-166C1E67A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121" y="49715"/>
            <a:ext cx="1143879" cy="1091029"/>
          </a:xfrm>
          <a:prstGeom prst="rect">
            <a:avLst/>
          </a:prstGeom>
        </p:spPr>
      </p:pic>
      <p:pic>
        <p:nvPicPr>
          <p:cNvPr id="1026" name="Picture 2" descr="VTU-Logo-250×250 – SJB INSTITUTE OF TECHNOLOGY">
            <a:extLst>
              <a:ext uri="{FF2B5EF4-FFF2-40B4-BE49-F238E27FC236}">
                <a16:creationId xmlns:a16="http://schemas.microsoft.com/office/drawing/2014/main" id="{920FEE6F-CA22-DC39-866C-758DA3AEA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" y="40493"/>
            <a:ext cx="1107336" cy="109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6F7B6F-E063-E0D6-F39F-C15408FD4AFE}"/>
              </a:ext>
            </a:extLst>
          </p:cNvPr>
          <p:cNvSpPr txBox="1"/>
          <p:nvPr/>
        </p:nvSpPr>
        <p:spPr>
          <a:xfrm>
            <a:off x="2789274" y="0"/>
            <a:ext cx="661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3B5E"/>
                </a:solidFill>
                <a:effectLst/>
                <a:uLnTx/>
                <a:uFillTx/>
                <a:latin typeface="Sanskrit Text" panose="020B0502040204020203" pitchFamily="18" charset="0"/>
                <a:ea typeface="+mn-ea"/>
                <a:cs typeface="Sanskrit Text" panose="020B0502040204020203" pitchFamily="18" charset="0"/>
              </a:rPr>
              <a:t>Internship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6019A-7A9D-3913-8846-0B1966462122}"/>
              </a:ext>
            </a:extLst>
          </p:cNvPr>
          <p:cNvSpPr txBox="1"/>
          <p:nvPr/>
        </p:nvSpPr>
        <p:spPr>
          <a:xfrm>
            <a:off x="1552354" y="395175"/>
            <a:ext cx="9271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5229"/>
                </a:solidFill>
                <a:effectLst/>
                <a:uLnTx/>
                <a:uFillTx/>
                <a:latin typeface="Raavi" panose="020B0502040204020203" pitchFamily="34" charset="0"/>
                <a:ea typeface="+mn-ea"/>
                <a:cs typeface="Raavi" panose="020B0502040204020203" pitchFamily="34" charset="0"/>
              </a:rPr>
              <a:t>Data Analytics using Power BI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A5E9CD-5B56-302A-AD61-F4554F77E473}"/>
              </a:ext>
            </a:extLst>
          </p:cNvPr>
          <p:cNvCxnSpPr>
            <a:cxnSpLocks/>
          </p:cNvCxnSpPr>
          <p:nvPr/>
        </p:nvCxnSpPr>
        <p:spPr>
          <a:xfrm>
            <a:off x="1606738" y="795285"/>
            <a:ext cx="8793125" cy="0"/>
          </a:xfrm>
          <a:prstGeom prst="line">
            <a:avLst/>
          </a:prstGeom>
          <a:ln w="57150">
            <a:solidFill>
              <a:srgbClr val="FF9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A458116-1A5D-10BF-D511-3BA31A523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7996" y="6328958"/>
            <a:ext cx="5956006" cy="267733"/>
          </a:xfrm>
        </p:spPr>
        <p:txBody>
          <a:bodyPr/>
          <a:lstStyle/>
          <a:p>
            <a:pPr lvl="0"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t>. </a:t>
            </a:r>
            <a:r>
              <a:rPr lang="en-US" sz="1400" b="1" dirty="0">
                <a:solidFill>
                  <a:prstClr val="black">
                    <a:tint val="82000"/>
                  </a:prstClr>
                </a:solidFill>
              </a:rPr>
              <a:t>Chandana C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Intern , iRobo Automation Pvt Ltd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82F26-5476-3A39-393E-66853AAB8D87}"/>
              </a:ext>
            </a:extLst>
          </p:cNvPr>
          <p:cNvSpPr>
            <a:spLocks noGrp="1"/>
          </p:cNvSpPr>
          <p:nvPr/>
        </p:nvSpPr>
        <p:spPr>
          <a:xfrm>
            <a:off x="381739" y="985421"/>
            <a:ext cx="10666382" cy="1506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5E8ECCA-8D47-3B00-986B-BC543A640A89}"/>
              </a:ext>
            </a:extLst>
          </p:cNvPr>
          <p:cNvSpPr>
            <a:spLocks noGrp="1"/>
          </p:cNvSpPr>
          <p:nvPr/>
        </p:nvSpPr>
        <p:spPr>
          <a:xfrm>
            <a:off x="301841" y="2076450"/>
            <a:ext cx="8353888" cy="4781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CB5D5B-EE23-E020-328D-87658D504093}"/>
              </a:ext>
            </a:extLst>
          </p:cNvPr>
          <p:cNvSpPr txBox="1"/>
          <p:nvPr/>
        </p:nvSpPr>
        <p:spPr>
          <a:xfrm>
            <a:off x="2263076" y="826063"/>
            <a:ext cx="7641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1E3B5E"/>
                </a:solidFill>
                <a:latin typeface="Sanskrit Text" panose="02020503050405020304" pitchFamily="18" charset="0"/>
                <a:cs typeface="Sanskrit Text" panose="02020503050405020304" pitchFamily="18" charset="0"/>
              </a:rPr>
              <a:t>Detailed Study of Power BI Visual : Funnel Chart and Scatter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7BFBD5-AC74-220A-658A-332ED1F4ECAD}"/>
              </a:ext>
            </a:extLst>
          </p:cNvPr>
          <p:cNvSpPr txBox="1"/>
          <p:nvPr/>
        </p:nvSpPr>
        <p:spPr>
          <a:xfrm>
            <a:off x="2111588" y="2775185"/>
            <a:ext cx="6986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THANK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933115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10130</TotalTime>
  <Words>937</Words>
  <Application>Microsoft Office PowerPoint</Application>
  <PresentationFormat>Widescreen</PresentationFormat>
  <Paragraphs>165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Raavi</vt:lpstr>
      <vt:lpstr>Sanskrit Text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 TS</dc:creator>
  <cp:lastModifiedBy>Chandana C</cp:lastModifiedBy>
  <cp:revision>136</cp:revision>
  <dcterms:created xsi:type="dcterms:W3CDTF">2025-12-06T15:34:29Z</dcterms:created>
  <dcterms:modified xsi:type="dcterms:W3CDTF">2026-06-08T19:28:12Z</dcterms:modified>
</cp:coreProperties>
</file>